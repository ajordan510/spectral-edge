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9A6"/>
                </a:solidFill>
                <a:latin typeface="Arial"/>
              </a:defRPr>
            </a:pPr>
            <a:r>
              <a:t>Batch PSD Processing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A5568"/>
                </a:solidFill>
              </a:defRPr>
            </a:pPr>
            <a:r>
              <a:t>Generated: 2026-02-10 21:10:06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B7280"/>
                </a:solidFill>
              </a:defRPr>
            </a:pPr>
            <a:r>
              <a:t>February 10,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9A6"/>
                </a:solidFill>
                <a:latin typeface="Arial"/>
              </a:defRPr>
            </a:pPr>
            <a:r>
              <a:t>Processing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A1F2E"/>
                </a:solidFill>
              </a:defRPr>
            </a:pPr>
            <a:r>
              <a:t>Ground Rules &amp; Assumptions</a:t>
            </a:r>
          </a:p>
          <a:p>
            <a:pPr lvl="1">
              <a:defRPr sz="1300">
                <a:solidFill>
                  <a:srgbClr val="4A5568"/>
                </a:solidFill>
              </a:defRPr>
            </a:pPr>
            <a:r>
              <a:t>- PSD method: maximax with hann window</a:t>
            </a:r>
          </a:p>
          <a:p>
            <a:pPr lvl="1">
              <a:defRPr sz="1300">
                <a:solidFill>
                  <a:srgbClr val="4A5568"/>
                </a:solidFill>
              </a:defRPr>
            </a:pPr>
            <a:r>
              <a:t>- Overlap: 50.0% and df 5.0 Hz</a:t>
            </a:r>
          </a:p>
          <a:p>
            <a:pPr lvl="1">
              <a:defRPr sz="1300">
                <a:solidFill>
                  <a:srgbClr val="4A5568"/>
                </a:solidFill>
              </a:defRPr>
            </a:pPr>
            <a:r>
              <a:t>- Frequency spacing displayed as constant_bandwidth</a:t>
            </a:r>
          </a:p>
          <a:p>
            <a:pPr lvl="1">
              <a:defRPr sz="1300">
                <a:solidFill>
                  <a:srgbClr val="4A5568"/>
                </a:solidFill>
              </a:defRPr>
            </a:pPr>
            <a:r>
              <a:t>- Running mean removal: On</a:t>
            </a:r>
          </a:p>
          <a:p>
            <a:pPr lvl="1">
              <a:defRPr sz="1300">
                <a:solidFill>
                  <a:srgbClr val="4A5568"/>
                </a:solidFill>
              </a:defRPr>
            </a:pPr>
            <a:r>
              <a:t>- Filtering: None</a:t>
            </a:r>
          </a:p>
          <a:p>
            <a:pPr>
              <a:spcAft>
                <a:spcPts val="400"/>
              </a:spcAft>
              <a:defRPr sz="1600" b="1">
                <a:solidFill>
                  <a:srgbClr val="1A1F2E"/>
                </a:solidFill>
              </a:defRPr>
            </a:pPr>
            <a:r>
              <a:t>Source Data</a:t>
            </a:r>
          </a:p>
          <a:p>
            <a:pPr lvl="1">
              <a:defRPr sz="1300">
                <a:solidFill>
                  <a:srgbClr val="4A5568"/>
                </a:solidFill>
              </a:defRPr>
            </a:pPr>
            <a:r>
              <a:t>- Source type: HDF5</a:t>
            </a:r>
          </a:p>
          <a:p>
            <a:pPr lvl="1">
              <a:defRPr sz="1300">
                <a:solidFill>
                  <a:srgbClr val="4A5568"/>
                </a:solidFill>
              </a:defRPr>
            </a:pPr>
            <a:r>
              <a:t>- Source files: sample_flight_data.hdf5</a:t>
            </a:r>
          </a:p>
          <a:p>
            <a:pPr lvl="1">
              <a:defRPr sz="1300">
                <a:solidFill>
                  <a:srgbClr val="4A5568"/>
                </a:solidFill>
              </a:defRPr>
            </a:pPr>
            <a:r>
              <a:t>- Channels processed: 2</a:t>
            </a:r>
          </a:p>
          <a:p>
            <a:pPr lvl="1">
              <a:defRPr sz="1300">
                <a:solidFill>
                  <a:srgbClr val="4A5568"/>
                </a:solidFill>
              </a:defRPr>
            </a:pPr>
            <a:r>
              <a:t>- Events: Full duration</a:t>
            </a:r>
          </a:p>
          <a:p>
            <a:pPr>
              <a:spcAft>
                <a:spcPts val="400"/>
              </a:spcAft>
              <a:defRPr sz="1600" b="1">
                <a:solidFill>
                  <a:srgbClr val="1A1F2E"/>
                </a:solidFill>
              </a:defRPr>
            </a:pPr>
            <a:r>
              <a:t>Processing Parameters</a:t>
            </a:r>
          </a:p>
          <a:p>
            <a:pPr lvl="1">
              <a:defRPr sz="1300">
                <a:solidFill>
                  <a:srgbClr val="4A5568"/>
                </a:solidFill>
              </a:defRPr>
            </a:pPr>
            <a:r>
              <a:t>- Frequency range: 20.0 to 2000.0 Hz</a:t>
            </a:r>
          </a:p>
          <a:p>
            <a:pPr lvl="1">
              <a:defRPr sz="1300">
                <a:solidFill>
                  <a:srgbClr val="4A5568"/>
                </a:solidFill>
              </a:defRPr>
            </a:pPr>
            <a:r>
              <a:t>- Efficient FFT: On</a:t>
            </a:r>
          </a:p>
          <a:p>
            <a:pPr lvl="1">
              <a:defRPr sz="1300">
                <a:solidFill>
                  <a:srgbClr val="4A5568"/>
                </a:solidFill>
              </a:defRPr>
            </a:pPr>
            <a:r>
              <a:t>- Spectrograms: Disabled</a:t>
            </a:r>
          </a:p>
          <a:p>
            <a:pPr lvl="1">
              <a:defRPr sz="1300">
                <a:solidFill>
                  <a:srgbClr val="4A5568"/>
                </a:solidFill>
              </a:defRPr>
            </a:pPr>
            <a:r>
              <a:t>- Statistics: Disabled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9A6"/>
                </a:solidFill>
                <a:latin typeface="Arial"/>
              </a:defRPr>
            </a:pPr>
            <a:r>
              <a:t>flight_001 | full_duration | accelerometer_x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31743"/>
            <a:ext cx="11277295" cy="54517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9A6"/>
                </a:solidFill>
                <a:latin typeface="Arial"/>
              </a:defRPr>
            </a:pPr>
            <a:r>
              <a:t>flight_001 | full_duration | accelerometer_y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31743"/>
            <a:ext cx="11277295" cy="54517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